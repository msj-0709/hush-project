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  <p:sldId id="258" r:id="rId6"/>
    <p:sldId id="259" r:id="rId7"/>
    <p:sldId id="260" r:id="rId8"/>
    <p:sldId id="267" r:id="rId9"/>
    <p:sldId id="261" r:id="rId10"/>
    <p:sldId id="262" r:id="rId11"/>
    <p:sldId id="269" r:id="rId12"/>
    <p:sldId id="266" r:id="rId13"/>
    <p:sldId id="263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C78295-1128-4F8D-BAB1-C77992D484D3}" v="47" dt="2025-06-05T06:58:24.6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9" d="100"/>
          <a:sy n="79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6661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2393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4593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980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5036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13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27E03A7-5DBE-A114-62ED-9460BE922E95}"/>
              </a:ext>
            </a:extLst>
          </p:cNvPr>
          <p:cNvSpPr/>
          <p:nvPr userDrawn="1"/>
        </p:nvSpPr>
        <p:spPr>
          <a:xfrm>
            <a:off x="312317" y="1245141"/>
            <a:ext cx="1569926" cy="460118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0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971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804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3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2064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58ACEE6-C755-44FF-84AD-40DC5B46DD32}" type="datetimeFigureOut">
              <a:rPr lang="ko-KR" altLang="en-US" smtClean="0"/>
              <a:t>2025-06-22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C1C5DAC-DCE7-42D7-890E-C5B2B4351C7D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36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97A31A77-470C-0FE3-F9F7-7BF6DCE044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4000" b="1" dirty="0"/>
              <a:t>관리자 화면 설계</a:t>
            </a:r>
          </a:p>
        </p:txBody>
      </p:sp>
    </p:spTree>
    <p:extLst>
      <p:ext uri="{BB962C8B-B14F-4D97-AF65-F5344CB8AC3E}">
        <p14:creationId xmlns:p14="http://schemas.microsoft.com/office/powerpoint/2010/main" val="3852614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EA288D1-3ACB-EC27-4DDD-22D6858E788C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904775F-F7BA-A5CF-414C-10C24F66C79D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b="1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B95CC9-D9D3-2DE2-8BD7-8087BF97919C}"/>
              </a:ext>
            </a:extLst>
          </p:cNvPr>
          <p:cNvSpPr/>
          <p:nvPr/>
        </p:nvSpPr>
        <p:spPr>
          <a:xfrm>
            <a:off x="3712125" y="2663080"/>
            <a:ext cx="2003898" cy="4085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03AB10F-FDF9-A3C0-0326-BD863CB815D0}"/>
              </a:ext>
            </a:extLst>
          </p:cNvPr>
          <p:cNvSpPr/>
          <p:nvPr/>
        </p:nvSpPr>
        <p:spPr>
          <a:xfrm>
            <a:off x="3712125" y="3218974"/>
            <a:ext cx="2003898" cy="4011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password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8D5269-4385-D3D7-B42C-BF795F0C51EB}"/>
              </a:ext>
            </a:extLst>
          </p:cNvPr>
          <p:cNvSpPr/>
          <p:nvPr/>
        </p:nvSpPr>
        <p:spPr>
          <a:xfrm>
            <a:off x="3712125" y="3884272"/>
            <a:ext cx="2003898" cy="4085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Login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EE2E3B-CCAF-5C1D-392F-27FE9B9EBB80}"/>
              </a:ext>
            </a:extLst>
          </p:cNvPr>
          <p:cNvSpPr txBox="1"/>
          <p:nvPr/>
        </p:nvSpPr>
        <p:spPr>
          <a:xfrm>
            <a:off x="184559" y="403932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로그인 화면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2168C8-3B96-DB23-C7EE-C60F193F4490}"/>
              </a:ext>
            </a:extLst>
          </p:cNvPr>
          <p:cNvSpPr txBox="1"/>
          <p:nvPr/>
        </p:nvSpPr>
        <p:spPr>
          <a:xfrm>
            <a:off x="9445557" y="403932"/>
            <a:ext cx="1395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Id</a:t>
            </a:r>
            <a:r>
              <a:rPr lang="ko-KR" altLang="en-US" dirty="0"/>
              <a:t>와 </a:t>
            </a:r>
            <a:r>
              <a:rPr lang="en-US" altLang="ko-KR" dirty="0"/>
              <a:t>pw</a:t>
            </a:r>
            <a:r>
              <a:rPr lang="ko-KR" altLang="en-US" dirty="0"/>
              <a:t>입력</a:t>
            </a:r>
          </a:p>
        </p:txBody>
      </p:sp>
    </p:spTree>
    <p:extLst>
      <p:ext uri="{BB962C8B-B14F-4D97-AF65-F5344CB8AC3E}">
        <p14:creationId xmlns:p14="http://schemas.microsoft.com/office/powerpoint/2010/main" val="3125171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44C22-47C8-F407-9D27-4464DAC08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FB0754F-34EC-DDE6-DF41-1B88F6013E9A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9ECC1C-F310-8630-538A-B1696F301923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202F992-A08F-2AEA-2CAA-ED5EB2509BB6}"/>
              </a:ext>
            </a:extLst>
          </p:cNvPr>
          <p:cNvSpPr/>
          <p:nvPr/>
        </p:nvSpPr>
        <p:spPr>
          <a:xfrm>
            <a:off x="6891847" y="1485210"/>
            <a:ext cx="1793152" cy="1309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모임 관리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EEB0CF-66A6-FB58-6507-F0E69B6DBC26}"/>
              </a:ext>
            </a:extLst>
          </p:cNvPr>
          <p:cNvSpPr txBox="1"/>
          <p:nvPr/>
        </p:nvSpPr>
        <p:spPr>
          <a:xfrm>
            <a:off x="230166" y="2974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2. </a:t>
            </a:r>
            <a:r>
              <a:rPr lang="ko-KR" altLang="en-US" b="1" dirty="0"/>
              <a:t>로그인 후 메인 화면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D444E3C-AA33-3BBC-1499-0E05AF3A56D4}"/>
              </a:ext>
            </a:extLst>
          </p:cNvPr>
          <p:cNvSpPr/>
          <p:nvPr/>
        </p:nvSpPr>
        <p:spPr>
          <a:xfrm>
            <a:off x="2063809" y="1245140"/>
            <a:ext cx="6873233" cy="176966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AABD06-EAB6-AB7F-8D67-1B0612D4CA93}"/>
              </a:ext>
            </a:extLst>
          </p:cNvPr>
          <p:cNvSpPr txBox="1"/>
          <p:nvPr/>
        </p:nvSpPr>
        <p:spPr>
          <a:xfrm>
            <a:off x="9445557" y="403932"/>
            <a:ext cx="16754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Q</a:t>
            </a:r>
          </a:p>
          <a:p>
            <a:r>
              <a:rPr lang="ko-KR" altLang="en-US" dirty="0"/>
              <a:t>화면 구성여부 </a:t>
            </a:r>
            <a:endParaRPr lang="en-US" altLang="ko-KR" dirty="0"/>
          </a:p>
          <a:p>
            <a:r>
              <a:rPr lang="ko-KR" altLang="en-US" dirty="0"/>
              <a:t>메뉴 구성여부 </a:t>
            </a:r>
            <a:endParaRPr lang="en-US" altLang="ko-KR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358BCC07-B097-5275-0FA5-6D1C04B00BCF}"/>
              </a:ext>
            </a:extLst>
          </p:cNvPr>
          <p:cNvSpPr/>
          <p:nvPr/>
        </p:nvSpPr>
        <p:spPr>
          <a:xfrm>
            <a:off x="2124669" y="3291114"/>
            <a:ext cx="2151217" cy="275771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신고 관리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E42279FF-2292-DD70-F974-6D5CB8CB2E7A}"/>
              </a:ext>
            </a:extLst>
          </p:cNvPr>
          <p:cNvSpPr/>
          <p:nvPr/>
        </p:nvSpPr>
        <p:spPr>
          <a:xfrm>
            <a:off x="4275886" y="3286815"/>
            <a:ext cx="2292350" cy="2757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1:1 </a:t>
            </a:r>
            <a:r>
              <a:rPr lang="ko-KR" altLang="en-US" dirty="0">
                <a:solidFill>
                  <a:schemeClr val="tx1"/>
                </a:solidFill>
              </a:rPr>
              <a:t>문의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1328566-02D2-EE1D-812E-E9037727A8A5}"/>
              </a:ext>
            </a:extLst>
          </p:cNvPr>
          <p:cNvSpPr/>
          <p:nvPr/>
        </p:nvSpPr>
        <p:spPr>
          <a:xfrm>
            <a:off x="6568236" y="3291114"/>
            <a:ext cx="2368805" cy="27577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공지 관리</a:t>
            </a:r>
          </a:p>
        </p:txBody>
      </p: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A125DB15-7715-8F00-AD81-39A79376B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7027433"/>
              </p:ext>
            </p:extLst>
          </p:nvPr>
        </p:nvGraphicFramePr>
        <p:xfrm>
          <a:off x="2124669" y="3571183"/>
          <a:ext cx="6812372" cy="227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3093">
                  <a:extLst>
                    <a:ext uri="{9D8B030D-6E8A-4147-A177-3AD203B41FA5}">
                      <a16:colId xmlns:a16="http://schemas.microsoft.com/office/drawing/2014/main" val="3458199729"/>
                    </a:ext>
                  </a:extLst>
                </a:gridCol>
                <a:gridCol w="1703093">
                  <a:extLst>
                    <a:ext uri="{9D8B030D-6E8A-4147-A177-3AD203B41FA5}">
                      <a16:colId xmlns:a16="http://schemas.microsoft.com/office/drawing/2014/main" val="1255691649"/>
                    </a:ext>
                  </a:extLst>
                </a:gridCol>
                <a:gridCol w="1703093">
                  <a:extLst>
                    <a:ext uri="{9D8B030D-6E8A-4147-A177-3AD203B41FA5}">
                      <a16:colId xmlns:a16="http://schemas.microsoft.com/office/drawing/2014/main" val="3181022075"/>
                    </a:ext>
                  </a:extLst>
                </a:gridCol>
                <a:gridCol w="1703093">
                  <a:extLst>
                    <a:ext uri="{9D8B030D-6E8A-4147-A177-3AD203B41FA5}">
                      <a16:colId xmlns:a16="http://schemas.microsoft.com/office/drawing/2014/main" val="960724525"/>
                    </a:ext>
                  </a:extLst>
                </a:gridCol>
              </a:tblGrid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9173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575560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09039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70042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9515"/>
                  </a:ext>
                </a:extLst>
              </a:tr>
            </a:tbl>
          </a:graphicData>
        </a:graphic>
      </p:graphicFrame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4672C9A-57FF-5B5A-30E1-7AD83D5D723A}"/>
              </a:ext>
            </a:extLst>
          </p:cNvPr>
          <p:cNvSpPr/>
          <p:nvPr/>
        </p:nvSpPr>
        <p:spPr>
          <a:xfrm>
            <a:off x="4714074" y="1475378"/>
            <a:ext cx="1793152" cy="1309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피드 관리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AFDB168-8D04-C7EB-AEA7-4FBE01F79EC6}"/>
              </a:ext>
            </a:extLst>
          </p:cNvPr>
          <p:cNvSpPr/>
          <p:nvPr/>
        </p:nvSpPr>
        <p:spPr>
          <a:xfrm>
            <a:off x="2452468" y="1475378"/>
            <a:ext cx="1793152" cy="13091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사용자 관리</a:t>
            </a:r>
          </a:p>
        </p:txBody>
      </p:sp>
    </p:spTree>
    <p:extLst>
      <p:ext uri="{BB962C8B-B14F-4D97-AF65-F5344CB8AC3E}">
        <p14:creationId xmlns:p14="http://schemas.microsoft.com/office/powerpoint/2010/main" val="1352978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51E02-C354-15B4-A319-670C9BD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B322705-997C-E144-2490-41FC9C7F23D2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31DDD20-BE9E-0132-1482-EC4C8B2BBE02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DCD9B4-B058-F4D2-101A-639091ED0D52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3. </a:t>
            </a:r>
            <a:r>
              <a:rPr lang="ko-KR" altLang="en-US" b="1" dirty="0"/>
              <a:t>사용자 관리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984CA65-F5EF-A222-E190-273B5BB53E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0331611"/>
              </p:ext>
            </p:extLst>
          </p:nvPr>
        </p:nvGraphicFramePr>
        <p:xfrm>
          <a:off x="2266951" y="2864494"/>
          <a:ext cx="5972377" cy="2277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694">
                  <a:extLst>
                    <a:ext uri="{9D8B030D-6E8A-4147-A177-3AD203B41FA5}">
                      <a16:colId xmlns:a16="http://schemas.microsoft.com/office/drawing/2014/main" val="3458199729"/>
                    </a:ext>
                  </a:extLst>
                </a:gridCol>
                <a:gridCol w="924750">
                  <a:extLst>
                    <a:ext uri="{9D8B030D-6E8A-4147-A177-3AD203B41FA5}">
                      <a16:colId xmlns:a16="http://schemas.microsoft.com/office/drawing/2014/main" val="1255691649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3181022075"/>
                    </a:ext>
                  </a:extLst>
                </a:gridCol>
                <a:gridCol w="1081548">
                  <a:extLst>
                    <a:ext uri="{9D8B030D-6E8A-4147-A177-3AD203B41FA5}">
                      <a16:colId xmlns:a16="http://schemas.microsoft.com/office/drawing/2014/main" val="960724525"/>
                    </a:ext>
                  </a:extLst>
                </a:gridCol>
                <a:gridCol w="1099643">
                  <a:extLst>
                    <a:ext uri="{9D8B030D-6E8A-4147-A177-3AD203B41FA5}">
                      <a16:colId xmlns:a16="http://schemas.microsoft.com/office/drawing/2014/main" val="1950397931"/>
                    </a:ext>
                  </a:extLst>
                </a:gridCol>
                <a:gridCol w="408562">
                  <a:extLst>
                    <a:ext uri="{9D8B030D-6E8A-4147-A177-3AD203B41FA5}">
                      <a16:colId xmlns:a16="http://schemas.microsoft.com/office/drawing/2014/main" val="2779364170"/>
                    </a:ext>
                  </a:extLst>
                </a:gridCol>
              </a:tblGrid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시용자  </a:t>
                      </a:r>
                      <a:r>
                        <a:rPr lang="en-US" altLang="ko-KR" sz="1200" dirty="0"/>
                        <a:t>ID 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사용자명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사용자 신고 건수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사용자 정지여부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사용자 삭제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9173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575560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09039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70042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951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5EE36985-E5D0-1329-337E-2AAC4BC156D8}"/>
              </a:ext>
            </a:extLst>
          </p:cNvPr>
          <p:cNvSpPr/>
          <p:nvPr/>
        </p:nvSpPr>
        <p:spPr>
          <a:xfrm>
            <a:off x="2266951" y="2280736"/>
            <a:ext cx="1526094" cy="325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사용자 신고건수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7F4A4E4-779F-AA66-DF25-F4DF1D9FB9DD}"/>
              </a:ext>
            </a:extLst>
          </p:cNvPr>
          <p:cNvSpPr/>
          <p:nvPr/>
        </p:nvSpPr>
        <p:spPr>
          <a:xfrm>
            <a:off x="4000576" y="2291292"/>
            <a:ext cx="1526094" cy="325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사용자 정지여부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F589C5D-3AA0-7D98-73E4-B2E6E9A03AF8}"/>
              </a:ext>
            </a:extLst>
          </p:cNvPr>
          <p:cNvSpPr/>
          <p:nvPr/>
        </p:nvSpPr>
        <p:spPr>
          <a:xfrm>
            <a:off x="6362776" y="2280735"/>
            <a:ext cx="857174" cy="325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195754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91443-8CC9-9670-AAB4-77D0C99D8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3011D51-D980-3884-0AB1-CB50E1ACED4F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3. </a:t>
            </a:r>
            <a:r>
              <a:rPr lang="ko-KR" altLang="en-US" b="1" dirty="0"/>
              <a:t>사용자 관리 </a:t>
            </a:r>
            <a:r>
              <a:rPr lang="en-US" altLang="ko-KR" b="1" dirty="0"/>
              <a:t>– </a:t>
            </a:r>
            <a:r>
              <a:rPr lang="ko-KR" altLang="en-US" b="1" dirty="0"/>
              <a:t>상세 팝업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80E7E58-A2D9-2CBF-58E6-5A128EBB1FF5}"/>
              </a:ext>
            </a:extLst>
          </p:cNvPr>
          <p:cNvSpPr/>
          <p:nvPr/>
        </p:nvSpPr>
        <p:spPr>
          <a:xfrm>
            <a:off x="184559" y="756587"/>
            <a:ext cx="5016500" cy="461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/>
          </a:p>
          <a:p>
            <a:r>
              <a:rPr lang="ko-KR" altLang="en-US" dirty="0"/>
              <a:t>사용자 </a:t>
            </a:r>
            <a:r>
              <a:rPr lang="en-US" altLang="ko-KR" dirty="0"/>
              <a:t>ID 		</a:t>
            </a:r>
          </a:p>
          <a:p>
            <a:r>
              <a:rPr lang="ko-KR" altLang="en-US" dirty="0"/>
              <a:t>사용자 이름</a:t>
            </a:r>
            <a:endParaRPr lang="en-US" altLang="ko-KR" dirty="0"/>
          </a:p>
          <a:p>
            <a:r>
              <a:rPr lang="ko-KR" altLang="en-US" dirty="0"/>
              <a:t>사용자 정지  </a:t>
            </a:r>
            <a:endParaRPr lang="en-US" altLang="ko-KR" dirty="0"/>
          </a:p>
          <a:p>
            <a:r>
              <a:rPr lang="ko-KR" altLang="en-US" dirty="0"/>
              <a:t>사용자 신고 내역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2C27D5E-06A6-2FF3-FF83-58C55157499A}"/>
              </a:ext>
            </a:extLst>
          </p:cNvPr>
          <p:cNvSpPr/>
          <p:nvPr/>
        </p:nvSpPr>
        <p:spPr>
          <a:xfrm>
            <a:off x="1352099" y="895020"/>
            <a:ext cx="1511300" cy="190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0CD802B-73EF-36DA-05C3-A1300725260C}"/>
              </a:ext>
            </a:extLst>
          </p:cNvPr>
          <p:cNvSpPr/>
          <p:nvPr/>
        </p:nvSpPr>
        <p:spPr>
          <a:xfrm>
            <a:off x="264124" y="2041235"/>
            <a:ext cx="4822225" cy="30165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E21345D-81B0-6C1D-79ED-50728D06E975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054A411-B1C9-7D55-CCC6-5CCB89D28992}"/>
              </a:ext>
            </a:extLst>
          </p:cNvPr>
          <p:cNvSpPr/>
          <p:nvPr/>
        </p:nvSpPr>
        <p:spPr>
          <a:xfrm>
            <a:off x="1607719" y="1163785"/>
            <a:ext cx="1511300" cy="190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905FF10-5F13-6A79-A568-3B0A08D956FA}"/>
              </a:ext>
            </a:extLst>
          </p:cNvPr>
          <p:cNvSpPr/>
          <p:nvPr/>
        </p:nvSpPr>
        <p:spPr>
          <a:xfrm>
            <a:off x="4113592" y="922563"/>
            <a:ext cx="857174" cy="325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저장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B5235919-BB08-8CA2-01C7-EA3912880F47}"/>
              </a:ext>
            </a:extLst>
          </p:cNvPr>
          <p:cNvSpPr/>
          <p:nvPr/>
        </p:nvSpPr>
        <p:spPr>
          <a:xfrm>
            <a:off x="2102112" y="1385925"/>
            <a:ext cx="261257" cy="242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52DD70B-ECE8-0373-3039-88A9C7D586A3}"/>
              </a:ext>
            </a:extLst>
          </p:cNvPr>
          <p:cNvSpPr/>
          <p:nvPr/>
        </p:nvSpPr>
        <p:spPr>
          <a:xfrm>
            <a:off x="3030879" y="1376936"/>
            <a:ext cx="261257" cy="24259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0447E2-B3E0-AF32-F9C6-34827D675BCE}"/>
              </a:ext>
            </a:extLst>
          </p:cNvPr>
          <p:cNvSpPr txBox="1"/>
          <p:nvPr/>
        </p:nvSpPr>
        <p:spPr>
          <a:xfrm>
            <a:off x="1679509" y="1398634"/>
            <a:ext cx="34756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/>
              <a:t>예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4D5EAD-68BA-19D0-AEDF-CBC0B6F4EBAA}"/>
              </a:ext>
            </a:extLst>
          </p:cNvPr>
          <p:cNvSpPr txBox="1"/>
          <p:nvPr/>
        </p:nvSpPr>
        <p:spPr>
          <a:xfrm>
            <a:off x="2360907" y="1370242"/>
            <a:ext cx="7581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아니오</a:t>
            </a:r>
          </a:p>
        </p:txBody>
      </p:sp>
    </p:spTree>
    <p:extLst>
      <p:ext uri="{BB962C8B-B14F-4D97-AF65-F5344CB8AC3E}">
        <p14:creationId xmlns:p14="http://schemas.microsoft.com/office/powerpoint/2010/main" val="16149565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1EE00-F3CF-8DB7-F1E2-90A91F7ED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B6C6D5A-A54B-4575-7D43-D767FBE547B0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DB5222B-184F-61E8-853C-D813EA7EA697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C26DB5-1ACA-7BC4-0B63-CF8D661192EE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피드 관리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82665DE-7B15-EFC0-25CA-D1A386CC18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5544674"/>
              </p:ext>
            </p:extLst>
          </p:nvPr>
        </p:nvGraphicFramePr>
        <p:xfrm>
          <a:off x="2091189" y="2807135"/>
          <a:ext cx="5474409" cy="227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694">
                  <a:extLst>
                    <a:ext uri="{9D8B030D-6E8A-4147-A177-3AD203B41FA5}">
                      <a16:colId xmlns:a16="http://schemas.microsoft.com/office/drawing/2014/main" val="3458199729"/>
                    </a:ext>
                  </a:extLst>
                </a:gridCol>
                <a:gridCol w="924750">
                  <a:extLst>
                    <a:ext uri="{9D8B030D-6E8A-4147-A177-3AD203B41FA5}">
                      <a16:colId xmlns:a16="http://schemas.microsoft.com/office/drawing/2014/main" val="1255691649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3181022075"/>
                    </a:ext>
                  </a:extLst>
                </a:gridCol>
                <a:gridCol w="1264917">
                  <a:extLst>
                    <a:ext uri="{9D8B030D-6E8A-4147-A177-3AD203B41FA5}">
                      <a16:colId xmlns:a16="http://schemas.microsoft.com/office/drawing/2014/main" val="960724525"/>
                    </a:ext>
                  </a:extLst>
                </a:gridCol>
                <a:gridCol w="826868">
                  <a:extLst>
                    <a:ext uri="{9D8B030D-6E8A-4147-A177-3AD203B41FA5}">
                      <a16:colId xmlns:a16="http://schemas.microsoft.com/office/drawing/2014/main" val="1950397931"/>
                    </a:ext>
                  </a:extLst>
                </a:gridCol>
              </a:tblGrid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NUM  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피드 제목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피드 상세내용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피드 신고건수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9173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575560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09039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70042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951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B926E61A-4A98-67B7-B1DB-144721C20CDB}"/>
              </a:ext>
            </a:extLst>
          </p:cNvPr>
          <p:cNvSpPr/>
          <p:nvPr/>
        </p:nvSpPr>
        <p:spPr>
          <a:xfrm>
            <a:off x="2266951" y="2280736"/>
            <a:ext cx="1526094" cy="325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피드 제목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9C8FA30-3DD0-3D8E-0741-C084FAA96846}"/>
              </a:ext>
            </a:extLst>
          </p:cNvPr>
          <p:cNvSpPr/>
          <p:nvPr/>
        </p:nvSpPr>
        <p:spPr>
          <a:xfrm>
            <a:off x="4000576" y="2291292"/>
            <a:ext cx="1526094" cy="325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피드 상세내용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C2B542F-E364-DDB1-1E50-BAC95AC0AB00}"/>
              </a:ext>
            </a:extLst>
          </p:cNvPr>
          <p:cNvSpPr/>
          <p:nvPr/>
        </p:nvSpPr>
        <p:spPr>
          <a:xfrm>
            <a:off x="6362776" y="2280735"/>
            <a:ext cx="857174" cy="325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조회</a:t>
            </a:r>
          </a:p>
        </p:txBody>
      </p:sp>
    </p:spTree>
    <p:extLst>
      <p:ext uri="{BB962C8B-B14F-4D97-AF65-F5344CB8AC3E}">
        <p14:creationId xmlns:p14="http://schemas.microsoft.com/office/powerpoint/2010/main" val="840681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F0777-E2A0-B633-A462-F9312FB74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3E47818-4930-534F-EA21-665C5DA6CC46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36A0020-4B8A-C165-3586-FC4C56FEDB16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0F03B3-A7D3-D5A5-D46D-16C014638D83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5. </a:t>
            </a:r>
            <a:r>
              <a:rPr lang="ko-KR" altLang="en-US" b="1" dirty="0"/>
              <a:t>모임 관리 </a:t>
            </a:r>
            <a:r>
              <a:rPr lang="en-US" altLang="ko-KR" b="1" dirty="0"/>
              <a:t>- </a:t>
            </a:r>
            <a:r>
              <a:rPr lang="ko-KR" altLang="en-US" b="1" dirty="0"/>
              <a:t>모임목록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EE2E77F-5D47-FA42-C30F-50B96CA9F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850086"/>
              </p:ext>
            </p:extLst>
          </p:nvPr>
        </p:nvGraphicFramePr>
        <p:xfrm>
          <a:off x="2162770" y="1663188"/>
          <a:ext cx="6812373" cy="227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694">
                  <a:extLst>
                    <a:ext uri="{9D8B030D-6E8A-4147-A177-3AD203B41FA5}">
                      <a16:colId xmlns:a16="http://schemas.microsoft.com/office/drawing/2014/main" val="3458199729"/>
                    </a:ext>
                  </a:extLst>
                </a:gridCol>
                <a:gridCol w="1227221">
                  <a:extLst>
                    <a:ext uri="{9D8B030D-6E8A-4147-A177-3AD203B41FA5}">
                      <a16:colId xmlns:a16="http://schemas.microsoft.com/office/drawing/2014/main" val="1255691649"/>
                    </a:ext>
                  </a:extLst>
                </a:gridCol>
                <a:gridCol w="1286642">
                  <a:extLst>
                    <a:ext uri="{9D8B030D-6E8A-4147-A177-3AD203B41FA5}">
                      <a16:colId xmlns:a16="http://schemas.microsoft.com/office/drawing/2014/main" val="3181022075"/>
                    </a:ext>
                  </a:extLst>
                </a:gridCol>
                <a:gridCol w="1384369">
                  <a:extLst>
                    <a:ext uri="{9D8B030D-6E8A-4147-A177-3AD203B41FA5}">
                      <a16:colId xmlns:a16="http://schemas.microsoft.com/office/drawing/2014/main" val="960724525"/>
                    </a:ext>
                  </a:extLst>
                </a:gridCol>
                <a:gridCol w="842210">
                  <a:extLst>
                    <a:ext uri="{9D8B030D-6E8A-4147-A177-3AD203B41FA5}">
                      <a16:colId xmlns:a16="http://schemas.microsoft.com/office/drawing/2014/main" val="600202605"/>
                    </a:ext>
                  </a:extLst>
                </a:gridCol>
                <a:gridCol w="1010237">
                  <a:extLst>
                    <a:ext uri="{9D8B030D-6E8A-4147-A177-3AD203B41FA5}">
                      <a16:colId xmlns:a16="http://schemas.microsoft.com/office/drawing/2014/main" val="1950397931"/>
                    </a:ext>
                  </a:extLst>
                </a:gridCol>
              </a:tblGrid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num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모임 명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모임 인원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모인 신고 건수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모임 정지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모임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9173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575560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09039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70042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9515"/>
                  </a:ext>
                </a:extLst>
              </a:tr>
            </a:tbl>
          </a:graphicData>
        </a:graphic>
      </p:graphicFrame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9D7544D-2970-B635-054E-4A40AF425FA2}"/>
              </a:ext>
            </a:extLst>
          </p:cNvPr>
          <p:cNvSpPr/>
          <p:nvPr/>
        </p:nvSpPr>
        <p:spPr>
          <a:xfrm>
            <a:off x="2162770" y="1175510"/>
            <a:ext cx="1530926" cy="45720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모임 목록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35040C-8A93-2DEA-D347-FAFFE3FD2E79}"/>
              </a:ext>
            </a:extLst>
          </p:cNvPr>
          <p:cNvSpPr txBox="1"/>
          <p:nvPr/>
        </p:nvSpPr>
        <p:spPr>
          <a:xfrm>
            <a:off x="9445557" y="403932"/>
            <a:ext cx="26516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모임 삭제나 정지 버튼을</a:t>
            </a:r>
            <a:br>
              <a:rPr lang="en-US" altLang="ko-KR" dirty="0"/>
            </a:br>
            <a:r>
              <a:rPr lang="ko-KR" altLang="en-US" dirty="0" err="1"/>
              <a:t>클릭시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ALRET </a:t>
            </a:r>
            <a:r>
              <a:rPr lang="ko-KR" altLang="en-US" dirty="0"/>
              <a:t>띄워주고 </a:t>
            </a:r>
            <a:endParaRPr lang="en-US" altLang="ko-KR" dirty="0"/>
          </a:p>
          <a:p>
            <a:r>
              <a:rPr lang="en-US" altLang="ko-KR" dirty="0"/>
              <a:t>‘ </a:t>
            </a:r>
            <a:r>
              <a:rPr lang="ko-KR" altLang="en-US" dirty="0"/>
              <a:t>예</a:t>
            </a:r>
            <a:r>
              <a:rPr lang="en-US" altLang="ko-KR" dirty="0"/>
              <a:t>’ </a:t>
            </a:r>
            <a:r>
              <a:rPr lang="ko-KR" altLang="en-US" dirty="0"/>
              <a:t>버튼 클릭하면 바로 </a:t>
            </a:r>
            <a:endParaRPr lang="en-US" altLang="ko-KR"/>
          </a:p>
          <a:p>
            <a:r>
              <a:rPr lang="ko-KR" altLang="en-US"/>
              <a:t>창 닫기 </a:t>
            </a:r>
            <a:endParaRPr lang="en-US" altLang="ko-KR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9E9B513-7E3F-D913-8B75-CC7583B9DFBD}"/>
              </a:ext>
            </a:extLst>
          </p:cNvPr>
          <p:cNvSpPr/>
          <p:nvPr/>
        </p:nvSpPr>
        <p:spPr>
          <a:xfrm>
            <a:off x="5224622" y="1169250"/>
            <a:ext cx="1530926" cy="4572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클래스 요청 목록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0AD8CBB-E784-F693-A58B-B5B5E615EB8E}"/>
              </a:ext>
            </a:extLst>
          </p:cNvPr>
          <p:cNvSpPr/>
          <p:nvPr/>
        </p:nvSpPr>
        <p:spPr>
          <a:xfrm>
            <a:off x="3693696" y="1169250"/>
            <a:ext cx="1530926" cy="4572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클래스 목록</a:t>
            </a:r>
          </a:p>
        </p:txBody>
      </p:sp>
    </p:spTree>
    <p:extLst>
      <p:ext uri="{BB962C8B-B14F-4D97-AF65-F5344CB8AC3E}">
        <p14:creationId xmlns:p14="http://schemas.microsoft.com/office/powerpoint/2010/main" val="798387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5429-0152-FEC7-DCCB-ED5A9D12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10C6FF1-C364-3704-2B89-6A415F158EFF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A816444-A8A5-8061-1959-BF2B39772C55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886222-CFB8-9493-FBDA-4EEA64640657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5. </a:t>
            </a:r>
            <a:r>
              <a:rPr lang="ko-KR" altLang="en-US" b="1" dirty="0"/>
              <a:t>모임 관리 </a:t>
            </a:r>
            <a:r>
              <a:rPr lang="en-US" altLang="ko-KR" b="1" dirty="0"/>
              <a:t>– </a:t>
            </a:r>
            <a:r>
              <a:rPr lang="ko-KR" altLang="en-US" b="1" dirty="0"/>
              <a:t>클래스 목록 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AA0404C-39E0-E56F-DC69-AFCB14DACB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0826609"/>
              </p:ext>
            </p:extLst>
          </p:nvPr>
        </p:nvGraphicFramePr>
        <p:xfrm>
          <a:off x="2150738" y="1643524"/>
          <a:ext cx="6812374" cy="227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801">
                  <a:extLst>
                    <a:ext uri="{9D8B030D-6E8A-4147-A177-3AD203B41FA5}">
                      <a16:colId xmlns:a16="http://schemas.microsoft.com/office/drawing/2014/main" val="3458199729"/>
                    </a:ext>
                  </a:extLst>
                </a:gridCol>
                <a:gridCol w="877077">
                  <a:extLst>
                    <a:ext uri="{9D8B030D-6E8A-4147-A177-3AD203B41FA5}">
                      <a16:colId xmlns:a16="http://schemas.microsoft.com/office/drawing/2014/main" val="1255691649"/>
                    </a:ext>
                  </a:extLst>
                </a:gridCol>
                <a:gridCol w="1446245">
                  <a:extLst>
                    <a:ext uri="{9D8B030D-6E8A-4147-A177-3AD203B41FA5}">
                      <a16:colId xmlns:a16="http://schemas.microsoft.com/office/drawing/2014/main" val="3181022075"/>
                    </a:ext>
                  </a:extLst>
                </a:gridCol>
                <a:gridCol w="1193913">
                  <a:extLst>
                    <a:ext uri="{9D8B030D-6E8A-4147-A177-3AD203B41FA5}">
                      <a16:colId xmlns:a16="http://schemas.microsoft.com/office/drawing/2014/main" val="960724525"/>
                    </a:ext>
                  </a:extLst>
                </a:gridCol>
                <a:gridCol w="1302026">
                  <a:extLst>
                    <a:ext uri="{9D8B030D-6E8A-4147-A177-3AD203B41FA5}">
                      <a16:colId xmlns:a16="http://schemas.microsoft.com/office/drawing/2014/main" val="1180017506"/>
                    </a:ext>
                  </a:extLst>
                </a:gridCol>
                <a:gridCol w="1419312">
                  <a:extLst>
                    <a:ext uri="{9D8B030D-6E8A-4147-A177-3AD203B41FA5}">
                      <a16:colId xmlns:a16="http://schemas.microsoft.com/office/drawing/2014/main" val="600202605"/>
                    </a:ext>
                  </a:extLst>
                </a:gridCol>
              </a:tblGrid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NUM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클래스 명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클래스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상세 내용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등록 날짜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마감 날짜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9173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PDF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만 지원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575560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09039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70042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9515"/>
                  </a:ext>
                </a:extLst>
              </a:tr>
            </a:tbl>
          </a:graphicData>
        </a:graphic>
      </p:graphicFrame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6648464C-BB50-1054-AA9A-D05D669D52A8}"/>
              </a:ext>
            </a:extLst>
          </p:cNvPr>
          <p:cNvSpPr/>
          <p:nvPr/>
        </p:nvSpPr>
        <p:spPr>
          <a:xfrm>
            <a:off x="2162770" y="1175510"/>
            <a:ext cx="1530926" cy="4572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모임 목록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744E53-E1A4-22B5-0CFE-DBE1157013FB}"/>
              </a:ext>
            </a:extLst>
          </p:cNvPr>
          <p:cNvSpPr txBox="1"/>
          <p:nvPr/>
        </p:nvSpPr>
        <p:spPr>
          <a:xfrm>
            <a:off x="9445557" y="403932"/>
            <a:ext cx="27045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Q</a:t>
            </a:r>
          </a:p>
          <a:p>
            <a:r>
              <a:rPr lang="ko-KR" altLang="en-US" dirty="0"/>
              <a:t>모임</a:t>
            </a:r>
            <a:r>
              <a:rPr lang="en-US" altLang="ko-KR" dirty="0"/>
              <a:t> </a:t>
            </a:r>
            <a:r>
              <a:rPr lang="ko-KR" altLang="en-US" dirty="0"/>
              <a:t>요청 목록의 경우엔 </a:t>
            </a:r>
            <a:endParaRPr lang="en-US" altLang="ko-KR" dirty="0"/>
          </a:p>
          <a:p>
            <a:r>
              <a:rPr lang="ko-KR" altLang="en-US" dirty="0"/>
              <a:t>사업자만 신청 가능 </a:t>
            </a:r>
            <a:endParaRPr lang="en-US" altLang="ko-KR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A3E78CC-BD3F-0CEB-351E-88BB5FE99D3F}"/>
              </a:ext>
            </a:extLst>
          </p:cNvPr>
          <p:cNvSpPr/>
          <p:nvPr/>
        </p:nvSpPr>
        <p:spPr>
          <a:xfrm>
            <a:off x="3693696" y="1185943"/>
            <a:ext cx="1530926" cy="4572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클래스 목록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5A857BC-C3A4-C2F5-2DD4-2D21933C8D37}"/>
              </a:ext>
            </a:extLst>
          </p:cNvPr>
          <p:cNvSpPr/>
          <p:nvPr/>
        </p:nvSpPr>
        <p:spPr>
          <a:xfrm>
            <a:off x="5181741" y="1185943"/>
            <a:ext cx="1530926" cy="4572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클래스 요청 목록</a:t>
            </a:r>
          </a:p>
        </p:txBody>
      </p:sp>
    </p:spTree>
    <p:extLst>
      <p:ext uri="{BB962C8B-B14F-4D97-AF65-F5344CB8AC3E}">
        <p14:creationId xmlns:p14="http://schemas.microsoft.com/office/powerpoint/2010/main" val="259187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BE1FC-FC93-3DDA-97B1-7916643A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25B89222-657D-6B21-3176-33D88C279C73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AA69BB1-1DFF-D07E-F67A-8BFF4E46EFE8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F62E7B-1246-4353-5C9F-5F31985C8F5B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5. </a:t>
            </a:r>
            <a:r>
              <a:rPr lang="ko-KR" altLang="en-US" b="1" dirty="0"/>
              <a:t>모임 관리 </a:t>
            </a:r>
            <a:r>
              <a:rPr lang="en-US" altLang="ko-KR" b="1" dirty="0"/>
              <a:t>– </a:t>
            </a:r>
            <a:r>
              <a:rPr lang="ko-KR" altLang="en-US" b="1" dirty="0"/>
              <a:t>클래스 요청 목록 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740C251-6F6F-DE96-D275-1F3EFFA74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894190"/>
              </p:ext>
            </p:extLst>
          </p:nvPr>
        </p:nvGraphicFramePr>
        <p:xfrm>
          <a:off x="2150738" y="1643524"/>
          <a:ext cx="6812374" cy="227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801">
                  <a:extLst>
                    <a:ext uri="{9D8B030D-6E8A-4147-A177-3AD203B41FA5}">
                      <a16:colId xmlns:a16="http://schemas.microsoft.com/office/drawing/2014/main" val="3458199729"/>
                    </a:ext>
                  </a:extLst>
                </a:gridCol>
                <a:gridCol w="877077">
                  <a:extLst>
                    <a:ext uri="{9D8B030D-6E8A-4147-A177-3AD203B41FA5}">
                      <a16:colId xmlns:a16="http://schemas.microsoft.com/office/drawing/2014/main" val="1255691649"/>
                    </a:ext>
                  </a:extLst>
                </a:gridCol>
                <a:gridCol w="1446245">
                  <a:extLst>
                    <a:ext uri="{9D8B030D-6E8A-4147-A177-3AD203B41FA5}">
                      <a16:colId xmlns:a16="http://schemas.microsoft.com/office/drawing/2014/main" val="3181022075"/>
                    </a:ext>
                  </a:extLst>
                </a:gridCol>
                <a:gridCol w="1395050">
                  <a:extLst>
                    <a:ext uri="{9D8B030D-6E8A-4147-A177-3AD203B41FA5}">
                      <a16:colId xmlns:a16="http://schemas.microsoft.com/office/drawing/2014/main" val="960724525"/>
                    </a:ext>
                  </a:extLst>
                </a:gridCol>
                <a:gridCol w="667754">
                  <a:extLst>
                    <a:ext uri="{9D8B030D-6E8A-4147-A177-3AD203B41FA5}">
                      <a16:colId xmlns:a16="http://schemas.microsoft.com/office/drawing/2014/main" val="1180017506"/>
                    </a:ext>
                  </a:extLst>
                </a:gridCol>
                <a:gridCol w="842210">
                  <a:extLst>
                    <a:ext uri="{9D8B030D-6E8A-4147-A177-3AD203B41FA5}">
                      <a16:colId xmlns:a16="http://schemas.microsoft.com/office/drawing/2014/main" val="600202605"/>
                    </a:ext>
                  </a:extLst>
                </a:gridCol>
                <a:gridCol w="1010237">
                  <a:extLst>
                    <a:ext uri="{9D8B030D-6E8A-4147-A177-3AD203B41FA5}">
                      <a16:colId xmlns:a16="http://schemas.microsoft.com/office/drawing/2014/main" val="1950397931"/>
                    </a:ext>
                  </a:extLst>
                </a:gridCol>
              </a:tblGrid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NUM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클래스 명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클래스 신청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제목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상세 내용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등록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요청 거부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/>
                        <a:t>거부 사유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9173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rgbClr val="FF0000"/>
                          </a:solidFill>
                        </a:rPr>
                        <a:t>PDF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</a:rPr>
                        <a:t>만 지원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575560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09039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70042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9515"/>
                  </a:ext>
                </a:extLst>
              </a:tr>
            </a:tbl>
          </a:graphicData>
        </a:graphic>
      </p:graphicFrame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9F0BE7A-676C-A5CE-C9ED-8FD93784A628}"/>
              </a:ext>
            </a:extLst>
          </p:cNvPr>
          <p:cNvSpPr/>
          <p:nvPr/>
        </p:nvSpPr>
        <p:spPr>
          <a:xfrm>
            <a:off x="2162770" y="1175510"/>
            <a:ext cx="1530926" cy="4572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모임 목록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A81AD1-8C2F-2488-7CD6-B7C94FDF950F}"/>
              </a:ext>
            </a:extLst>
          </p:cNvPr>
          <p:cNvSpPr txBox="1"/>
          <p:nvPr/>
        </p:nvSpPr>
        <p:spPr>
          <a:xfrm>
            <a:off x="9445557" y="403932"/>
            <a:ext cx="27045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Q</a:t>
            </a:r>
          </a:p>
          <a:p>
            <a:r>
              <a:rPr lang="ko-KR" altLang="en-US" dirty="0"/>
              <a:t>모임</a:t>
            </a:r>
            <a:r>
              <a:rPr lang="en-US" altLang="ko-KR" dirty="0"/>
              <a:t> </a:t>
            </a:r>
            <a:r>
              <a:rPr lang="ko-KR" altLang="en-US" dirty="0"/>
              <a:t>요청 목록의 경우엔 </a:t>
            </a:r>
            <a:endParaRPr lang="en-US" altLang="ko-KR" dirty="0"/>
          </a:p>
          <a:p>
            <a:r>
              <a:rPr lang="ko-KR" altLang="en-US" dirty="0"/>
              <a:t>사업자만 신청 가능 </a:t>
            </a:r>
            <a:endParaRPr lang="en-US" altLang="ko-KR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EAE30F5D-1C5D-FE70-8D1C-B044E15B1EE8}"/>
              </a:ext>
            </a:extLst>
          </p:cNvPr>
          <p:cNvSpPr/>
          <p:nvPr/>
        </p:nvSpPr>
        <p:spPr>
          <a:xfrm>
            <a:off x="5224622" y="1164696"/>
            <a:ext cx="1530926" cy="4572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클래스 요청 목록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F464735-0434-BAD2-862F-9128A3A95AA4}"/>
              </a:ext>
            </a:extLst>
          </p:cNvPr>
          <p:cNvSpPr/>
          <p:nvPr/>
        </p:nvSpPr>
        <p:spPr>
          <a:xfrm>
            <a:off x="3693696" y="1164696"/>
            <a:ext cx="1530926" cy="4572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클래스 목록</a:t>
            </a:r>
          </a:p>
        </p:txBody>
      </p:sp>
    </p:spTree>
    <p:extLst>
      <p:ext uri="{BB962C8B-B14F-4D97-AF65-F5344CB8AC3E}">
        <p14:creationId xmlns:p14="http://schemas.microsoft.com/office/powerpoint/2010/main" val="1028054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48C68-84C5-C3D5-9951-6B954B21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E134D8D2-BCD2-A0C0-0134-3100597C53E8}"/>
              </a:ext>
            </a:extLst>
          </p:cNvPr>
          <p:cNvSpPr/>
          <p:nvPr/>
        </p:nvSpPr>
        <p:spPr>
          <a:xfrm>
            <a:off x="184559" y="905347"/>
            <a:ext cx="9059030" cy="52859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E9A076F-6451-67F2-B3AF-1616F707E929}"/>
              </a:ext>
            </a:extLst>
          </p:cNvPr>
          <p:cNvSpPr/>
          <p:nvPr/>
        </p:nvSpPr>
        <p:spPr>
          <a:xfrm>
            <a:off x="9297908" y="179748"/>
            <a:ext cx="2709533" cy="60115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DEDA1-296B-1E30-6578-42D29F74BA1F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/>
              <a:t>관리자 관리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6E4F3B8-2B9F-74E7-A453-1A8CE9FF6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966496"/>
              </p:ext>
            </p:extLst>
          </p:nvPr>
        </p:nvGraphicFramePr>
        <p:xfrm>
          <a:off x="2162769" y="1717658"/>
          <a:ext cx="6812372" cy="2275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3093">
                  <a:extLst>
                    <a:ext uri="{9D8B030D-6E8A-4147-A177-3AD203B41FA5}">
                      <a16:colId xmlns:a16="http://schemas.microsoft.com/office/drawing/2014/main" val="3458199729"/>
                    </a:ext>
                  </a:extLst>
                </a:gridCol>
                <a:gridCol w="1703093">
                  <a:extLst>
                    <a:ext uri="{9D8B030D-6E8A-4147-A177-3AD203B41FA5}">
                      <a16:colId xmlns:a16="http://schemas.microsoft.com/office/drawing/2014/main" val="1255691649"/>
                    </a:ext>
                  </a:extLst>
                </a:gridCol>
                <a:gridCol w="1703093">
                  <a:extLst>
                    <a:ext uri="{9D8B030D-6E8A-4147-A177-3AD203B41FA5}">
                      <a16:colId xmlns:a16="http://schemas.microsoft.com/office/drawing/2014/main" val="3181022075"/>
                    </a:ext>
                  </a:extLst>
                </a:gridCol>
                <a:gridCol w="1703093">
                  <a:extLst>
                    <a:ext uri="{9D8B030D-6E8A-4147-A177-3AD203B41FA5}">
                      <a16:colId xmlns:a16="http://schemas.microsoft.com/office/drawing/2014/main" val="960724525"/>
                    </a:ext>
                  </a:extLst>
                </a:gridCol>
              </a:tblGrid>
              <a:tr h="45502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관리자 이름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관리자 </a:t>
                      </a:r>
                      <a:r>
                        <a:rPr lang="en-US" altLang="ko-KR" dirty="0"/>
                        <a:t>ID </a:t>
                      </a:r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역할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관리자 삭제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49173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575560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6090399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170042"/>
                  </a:ext>
                </a:extLst>
              </a:tr>
              <a:tr h="45502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59515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23127A-345A-51C7-CF76-A6C4BE7F9A04}"/>
              </a:ext>
            </a:extLst>
          </p:cNvPr>
          <p:cNvSpPr txBox="1"/>
          <p:nvPr/>
        </p:nvSpPr>
        <p:spPr>
          <a:xfrm>
            <a:off x="9442859" y="366119"/>
            <a:ext cx="2241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관리자 이름 선택 시 </a:t>
            </a:r>
            <a:br>
              <a:rPr lang="en-US" altLang="ko-KR" b="1" dirty="0"/>
            </a:br>
            <a:r>
              <a:rPr lang="ko-KR" altLang="en-US" b="1" dirty="0"/>
              <a:t>상세 정보 팝업 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86AC15A-17A2-EC96-F423-9ED1D724BDB5}"/>
              </a:ext>
            </a:extLst>
          </p:cNvPr>
          <p:cNvSpPr/>
          <p:nvPr/>
        </p:nvSpPr>
        <p:spPr>
          <a:xfrm>
            <a:off x="5956300" y="1175510"/>
            <a:ext cx="3018841" cy="45720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관리자 신규 생성 </a:t>
            </a:r>
          </a:p>
        </p:txBody>
      </p:sp>
      <p:sp>
        <p:nvSpPr>
          <p:cNvPr id="10" name="곱하기 기호 9">
            <a:extLst>
              <a:ext uri="{FF2B5EF4-FFF2-40B4-BE49-F238E27FC236}">
                <a16:creationId xmlns:a16="http://schemas.microsoft.com/office/drawing/2014/main" id="{78241349-66F7-9072-F4DE-0D06EE3AAF4D}"/>
              </a:ext>
            </a:extLst>
          </p:cNvPr>
          <p:cNvSpPr/>
          <p:nvPr/>
        </p:nvSpPr>
        <p:spPr>
          <a:xfrm>
            <a:off x="7848710" y="2241880"/>
            <a:ext cx="324906" cy="406282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3883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19C786-CC3B-7C61-ABDC-6FF7DF3104BE}"/>
              </a:ext>
            </a:extLst>
          </p:cNvPr>
          <p:cNvSpPr txBox="1"/>
          <p:nvPr/>
        </p:nvSpPr>
        <p:spPr>
          <a:xfrm>
            <a:off x="184559" y="366119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/>
              <a:t>관리자 권한 관리 </a:t>
            </a:r>
            <a:r>
              <a:rPr lang="en-US" altLang="ko-KR" b="1" dirty="0"/>
              <a:t>– </a:t>
            </a:r>
            <a:r>
              <a:rPr lang="ko-KR" altLang="en-US" b="1" dirty="0"/>
              <a:t>상세 팝업 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264BC6-B30C-5B89-AE7C-9DAF83F237BB}"/>
              </a:ext>
            </a:extLst>
          </p:cNvPr>
          <p:cNvSpPr/>
          <p:nvPr/>
        </p:nvSpPr>
        <p:spPr>
          <a:xfrm>
            <a:off x="184559" y="927100"/>
            <a:ext cx="5016500" cy="4610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/>
              <a:t>관리자 </a:t>
            </a:r>
            <a:r>
              <a:rPr lang="en-US" altLang="ko-KR" dirty="0"/>
              <a:t>ID </a:t>
            </a:r>
          </a:p>
          <a:p>
            <a:r>
              <a:rPr lang="ko-KR" altLang="en-US" dirty="0"/>
              <a:t>관리자 이름</a:t>
            </a:r>
            <a:endParaRPr lang="en-US" altLang="ko-KR" dirty="0"/>
          </a:p>
          <a:p>
            <a:r>
              <a:rPr lang="ko-KR" altLang="en-US" dirty="0"/>
              <a:t>관리자 권한 목록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AA96444-E841-2285-7B17-DF9EAF925CDC}"/>
              </a:ext>
            </a:extLst>
          </p:cNvPr>
          <p:cNvSpPr/>
          <p:nvPr/>
        </p:nvSpPr>
        <p:spPr>
          <a:xfrm>
            <a:off x="1562100" y="1041400"/>
            <a:ext cx="1511300" cy="190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6BB7F89-B3C4-4BC6-63D9-C2F0DA665CC0}"/>
              </a:ext>
            </a:extLst>
          </p:cNvPr>
          <p:cNvSpPr/>
          <p:nvPr/>
        </p:nvSpPr>
        <p:spPr>
          <a:xfrm>
            <a:off x="1720448" y="1328299"/>
            <a:ext cx="1511300" cy="1905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3189A33-2207-2877-70D2-9C4824D6E5B1}"/>
              </a:ext>
            </a:extLst>
          </p:cNvPr>
          <p:cNvSpPr/>
          <p:nvPr/>
        </p:nvSpPr>
        <p:spPr>
          <a:xfrm>
            <a:off x="348848" y="1993900"/>
            <a:ext cx="4489852" cy="204760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rgbClr val="FF0000"/>
                </a:solidFill>
              </a:rPr>
              <a:t>게시글 삭제 권한 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사용자 삭제</a:t>
            </a:r>
            <a:r>
              <a:rPr lang="en-US" altLang="ko-KR" dirty="0">
                <a:solidFill>
                  <a:srgbClr val="FF0000"/>
                </a:solidFill>
              </a:rPr>
              <a:t>/</a:t>
            </a:r>
            <a:r>
              <a:rPr lang="ko-KR" altLang="en-US" dirty="0">
                <a:solidFill>
                  <a:srgbClr val="FF0000"/>
                </a:solidFill>
              </a:rPr>
              <a:t>정지 권한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모임 삭제</a:t>
            </a:r>
            <a:r>
              <a:rPr lang="en-US" altLang="ko-KR" dirty="0">
                <a:solidFill>
                  <a:srgbClr val="FF0000"/>
                </a:solidFill>
              </a:rPr>
              <a:t>/</a:t>
            </a:r>
            <a:r>
              <a:rPr lang="ko-KR" altLang="en-US" dirty="0">
                <a:solidFill>
                  <a:srgbClr val="FF0000"/>
                </a:solidFill>
              </a:rPr>
              <a:t>정지 권한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ko-KR" altLang="en-US" dirty="0">
                <a:solidFill>
                  <a:srgbClr val="FF0000"/>
                </a:solidFill>
              </a:rPr>
              <a:t>피드 삭제 권한</a:t>
            </a:r>
            <a:endParaRPr lang="en-US" altLang="ko-KR" dirty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*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*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9FB200D-26DC-6466-C41F-62700CAB7A69}"/>
              </a:ext>
            </a:extLst>
          </p:cNvPr>
          <p:cNvSpPr/>
          <p:nvPr/>
        </p:nvSpPr>
        <p:spPr>
          <a:xfrm>
            <a:off x="3771900" y="4864100"/>
            <a:ext cx="1066800" cy="45720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저장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CB59E55-F605-6CC6-C3DE-F0CE2B01E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750" y="2102041"/>
            <a:ext cx="1621677" cy="32921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2920562E-EE84-6DCF-A912-AFC1AB251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623" y="2420992"/>
            <a:ext cx="1621677" cy="3292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43C5B21-3D2D-DD84-B91D-6180E538F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364" y="2739943"/>
            <a:ext cx="1621677" cy="329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870479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E774B426E055849B441ECC8369879B0" ma:contentTypeVersion="8" ma:contentTypeDescription="새 문서를 만듭니다." ma:contentTypeScope="" ma:versionID="9068642751f2cf013f3cc01b70c42c86">
  <xsd:schema xmlns:xsd="http://www.w3.org/2001/XMLSchema" xmlns:xs="http://www.w3.org/2001/XMLSchema" xmlns:p="http://schemas.microsoft.com/office/2006/metadata/properties" xmlns:ns3="dd3f898b-a552-43cf-8c13-27667718d721" targetNamespace="http://schemas.microsoft.com/office/2006/metadata/properties" ma:root="true" ma:fieldsID="5101e1b840c40ca8b770ab5a0196a279" ns3:_="">
    <xsd:import namespace="dd3f898b-a552-43cf-8c13-27667718d72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3f898b-a552-43cf-8c13-27667718d72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3E9B01A-AA5E-4C4C-9B19-B8752E4B66DA}">
  <ds:schemaRefs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http://purl.org/dc/terms/"/>
    <ds:schemaRef ds:uri="http://purl.org/dc/dcmitype/"/>
    <ds:schemaRef ds:uri="http://purl.org/dc/elements/1.1/"/>
    <ds:schemaRef ds:uri="dd3f898b-a552-43cf-8c13-27667718d721"/>
  </ds:schemaRefs>
</ds:datastoreItem>
</file>

<file path=customXml/itemProps2.xml><?xml version="1.0" encoding="utf-8"?>
<ds:datastoreItem xmlns:ds="http://schemas.openxmlformats.org/officeDocument/2006/customXml" ds:itemID="{660F5016-C253-4EB4-85FB-5F219558131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BBEDDF8-8A84-4F17-984E-AFBD2B131A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d3f898b-a552-43cf-8c13-27667718d7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161</TotalTime>
  <Words>275</Words>
  <Application>Microsoft Office PowerPoint</Application>
  <PresentationFormat>와이드스크린</PresentationFormat>
  <Paragraphs>135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Calibri</vt:lpstr>
      <vt:lpstr>Calibri Light</vt:lpstr>
      <vt:lpstr>추억</vt:lpstr>
      <vt:lpstr>관리자 화면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문 서정</dc:creator>
  <cp:lastModifiedBy>서정 문</cp:lastModifiedBy>
  <cp:revision>123</cp:revision>
  <dcterms:created xsi:type="dcterms:W3CDTF">2025-06-05T06:47:01Z</dcterms:created>
  <dcterms:modified xsi:type="dcterms:W3CDTF">2025-06-22T01:40:29Z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0x0101001E774B426E055849B441ECC8369879B0</vt:lpwstr>
  </property>
</Properties>
</file>